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2E2A"/>
    <a:srgbClr val="F3E1C9"/>
    <a:srgbClr val="B85042"/>
    <a:srgbClr val="0E09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96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97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98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9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0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0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1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4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64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65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0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71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7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67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6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7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67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2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3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5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6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687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8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46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647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8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0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1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69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60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61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62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66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6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6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66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50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6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06-Aug-26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pM9H6ClsrnI?feature=oembed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Rectangle 1"/>
          <p:cNvSpPr/>
          <p:nvPr/>
        </p:nvSpPr>
        <p:spPr>
          <a:xfrm>
            <a:off x="0" y="0"/>
            <a:ext cx="180000" cy="6858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8586" name="TextBox 3"/>
          <p:cNvSpPr txBox="1"/>
          <p:nvPr/>
        </p:nvSpPr>
        <p:spPr>
          <a:xfrm>
            <a:off x="685800" y="2035000"/>
            <a:ext cx="10820400" cy="10439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400" b="1" dirty="0" err="1">
                <a:solidFill>
                  <a:srgbClr val="3A2E2A"/>
                </a:solidFill>
                <a:latin typeface="Arial"/>
              </a:rPr>
              <a:t>EdgeGuard</a:t>
            </a:r>
            <a:r>
              <a:rPr sz="6400" b="1" dirty="0">
                <a:solidFill>
                  <a:srgbClr val="3A2E2A"/>
                </a:solidFill>
                <a:latin typeface="Arial"/>
              </a:rPr>
              <a:t> AI</a:t>
            </a:r>
          </a:p>
        </p:txBody>
      </p:sp>
      <p:sp>
        <p:nvSpPr>
          <p:cNvPr id="1048587" name="TextBox 4"/>
          <p:cNvSpPr txBox="1"/>
          <p:nvPr/>
        </p:nvSpPr>
        <p:spPr>
          <a:xfrm>
            <a:off x="685800" y="3335000"/>
            <a:ext cx="10820400" cy="510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dirty="0">
                <a:solidFill>
                  <a:srgbClr val="963D31"/>
                </a:solidFill>
                <a:latin typeface="Calibri"/>
              </a:rPr>
              <a:t>Vehicle Predictive Maintenance Simulation Platform</a:t>
            </a:r>
          </a:p>
        </p:txBody>
      </p:sp>
      <p:sp>
        <p:nvSpPr>
          <p:cNvPr id="1048588" name="Rectangle 5"/>
          <p:cNvSpPr/>
          <p:nvPr/>
        </p:nvSpPr>
        <p:spPr>
          <a:xfrm>
            <a:off x="685800" y="4105000"/>
            <a:ext cx="1400000" cy="28000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592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Problem Statement</a:t>
            </a:r>
          </a:p>
        </p:txBody>
      </p:sp>
      <p:pic>
        <p:nvPicPr>
          <p:cNvPr id="2097152" name="Picture 3" descr="imag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96044"/>
            <a:ext cx="4736592" cy="2588711"/>
          </a:xfrm>
          <a:prstGeom prst="rect">
            <a:avLst/>
          </a:prstGeom>
        </p:spPr>
      </p:pic>
      <p:sp>
        <p:nvSpPr>
          <p:cNvPr id="1048593" name="TextBox 4"/>
          <p:cNvSpPr txBox="1"/>
          <p:nvPr/>
        </p:nvSpPr>
        <p:spPr>
          <a:xfrm>
            <a:off x="5473792" y="1764205"/>
            <a:ext cx="6261008" cy="405239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Vehicle breakdowns and mechanical failures often happen without warning, leading to safety risks, costly repairs, and vehicle downtime.</a:t>
            </a:r>
          </a:p>
          <a:p>
            <a:pPr>
              <a:spcAft>
                <a:spcPts val="700"/>
              </a:spcAft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Most traditional vehicles rely on basic dashboard indicators that only alert drivers after a problem has already occurred.</a:t>
            </a:r>
          </a:p>
          <a:p>
            <a:pPr>
              <a:spcAft>
                <a:spcPts val="700"/>
              </a:spcAft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There is a growing need for a smart, real-time system that can continuously monitor vehicle parameters and predict issues before they become critical.</a:t>
            </a:r>
          </a:p>
          <a:p>
            <a:pPr>
              <a:spcAft>
                <a:spcPts val="700"/>
              </a:spcAft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With the predictive maintenance market expanding rapidly, there is strong potential for AI-driven, low-cost software solutions.</a:t>
            </a:r>
            <a:endParaRPr lang="en-US" sz="1800" b="1" dirty="0">
              <a:solidFill>
                <a:srgbClr val="3A2E2A"/>
              </a:solidFill>
              <a:latin typeface="Calibri"/>
            </a:endParaRPr>
          </a:p>
          <a:p>
            <a:pPr>
              <a:spcAft>
                <a:spcPts val="700"/>
              </a:spcAft>
            </a:pPr>
            <a:r>
              <a:rPr lang="en-IN" b="1" dirty="0">
                <a:solidFill>
                  <a:srgbClr val="3A2E2A"/>
                </a:solidFill>
              </a:rPr>
              <a:t>Continuous Edge AI monitoring enables timely interventions before minor issues become critical failures.</a:t>
            </a:r>
            <a:endParaRPr sz="1800" b="1" dirty="0">
              <a:solidFill>
                <a:srgbClr val="3A2E2A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8595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Objective and Approach</a:t>
            </a:r>
          </a:p>
        </p:txBody>
      </p:sp>
      <p:sp>
        <p:nvSpPr>
          <p:cNvPr id="1048596" name="Rounded Rectangle 3"/>
          <p:cNvSpPr/>
          <p:nvPr/>
        </p:nvSpPr>
        <p:spPr>
          <a:xfrm>
            <a:off x="457200" y="1180000"/>
            <a:ext cx="5498800" cy="5220800"/>
          </a:xfrm>
          <a:prstGeom prst="roundRect">
            <a:avLst>
              <a:gd name="adj" fmla="val 5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0" tIns="220000" rIns="300000" bIns="220000" rtlCol="0" anchor="ctr"/>
          <a:lstStyle/>
          <a:p>
            <a:pPr algn="ctr"/>
            <a:r>
              <a:rPr sz="2100" b="1" dirty="0">
                <a:solidFill>
                  <a:srgbClr val="963D31"/>
                </a:solidFill>
                <a:latin typeface="Arial"/>
              </a:rPr>
              <a:t>Objective</a:t>
            </a:r>
          </a:p>
          <a:p>
            <a:pPr>
              <a:spcBef>
                <a:spcPts val="800"/>
              </a:spcBef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Design a software-based simulation system that models vehicle health parameters (RPM, temperature, gear, road condition, </a:t>
            </a:r>
            <a:r>
              <a:rPr sz="1800" b="1" dirty="0" err="1">
                <a:solidFill>
                  <a:srgbClr val="3A2E2A"/>
                </a:solidFill>
                <a:latin typeface="Calibri"/>
              </a:rPr>
              <a:t>tyre</a:t>
            </a:r>
            <a:r>
              <a:rPr sz="1800" b="1" dirty="0">
                <a:solidFill>
                  <a:srgbClr val="3A2E2A"/>
                </a:solidFill>
                <a:latin typeface="Calibri"/>
              </a:rPr>
              <a:t> wear, oil condition, speed, etc.) and uses AI/rule-based logic to detect abnormal patterns, predicting potential failures before they occur.</a:t>
            </a:r>
            <a:endParaRPr lang="en-US" sz="1800" b="1" dirty="0">
              <a:solidFill>
                <a:srgbClr val="3A2E2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lang="en-IN" b="1" dirty="0">
                <a:solidFill>
                  <a:srgbClr val="3A2E2A"/>
                </a:solidFill>
              </a:rPr>
              <a:t>To enable proactive vehicle maintenance by identifying potential failures before they impact safety, performance, or reliability.</a:t>
            </a:r>
            <a:endParaRPr sz="1800" b="1" dirty="0">
              <a:solidFill>
                <a:srgbClr val="3A2E2A"/>
              </a:solidFill>
              <a:latin typeface="Calibri"/>
            </a:endParaRPr>
          </a:p>
        </p:txBody>
      </p:sp>
      <p:sp>
        <p:nvSpPr>
          <p:cNvPr id="1048597" name="Oval 4"/>
          <p:cNvSpPr/>
          <p:nvPr/>
        </p:nvSpPr>
        <p:spPr>
          <a:xfrm>
            <a:off x="277200" y="1000000"/>
            <a:ext cx="430000" cy="43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598" name="Rounded Rectangle 5"/>
          <p:cNvSpPr/>
          <p:nvPr/>
        </p:nvSpPr>
        <p:spPr>
          <a:xfrm>
            <a:off x="6236000" y="1180000"/>
            <a:ext cx="5498800" cy="5220800"/>
          </a:xfrm>
          <a:prstGeom prst="roundRect">
            <a:avLst>
              <a:gd name="adj" fmla="val 5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00000" tIns="220000" rIns="300000" bIns="220000" rtlCol="0" anchor="ctr"/>
          <a:lstStyle/>
          <a:p>
            <a:pPr algn="ctr"/>
            <a:r>
              <a:rPr sz="2100" b="1" dirty="0">
                <a:solidFill>
                  <a:srgbClr val="963D31"/>
                </a:solidFill>
                <a:latin typeface="Arial"/>
              </a:rPr>
              <a:t>Approach</a:t>
            </a:r>
          </a:p>
          <a:p>
            <a:pPr>
              <a:spcBef>
                <a:spcPts val="800"/>
              </a:spcBef>
            </a:pPr>
            <a:r>
              <a:rPr sz="1800" b="1" dirty="0">
                <a:solidFill>
                  <a:srgbClr val="3A2E2A"/>
                </a:solidFill>
                <a:latin typeface="Calibri"/>
              </a:rPr>
              <a:t>Built a virtual simulation environment where users can input or simulate real-time vehicle parameters. The system processes this data using an Edge AI-inspired logic layer to continuously evaluate vehicle "health status" and generate instant alerts and recommendations.</a:t>
            </a:r>
            <a:endParaRPr lang="en-US" sz="1800" b="1" dirty="0">
              <a:solidFill>
                <a:srgbClr val="3A2E2A"/>
              </a:solidFill>
              <a:latin typeface="Calibri"/>
            </a:endParaRPr>
          </a:p>
          <a:p>
            <a:pPr>
              <a:spcBef>
                <a:spcPts val="800"/>
              </a:spcBef>
            </a:pPr>
            <a:r>
              <a:rPr lang="en-IN" b="1" dirty="0">
                <a:solidFill>
                  <a:srgbClr val="3A2E2A"/>
                </a:solidFill>
              </a:rPr>
              <a:t>A real-time, on-device AI simulation continuously analyses vehicle data to provide instant diagnostics, predictions, and actionable recommendations.</a:t>
            </a:r>
            <a:endParaRPr sz="1800" b="1" dirty="0">
              <a:solidFill>
                <a:srgbClr val="3A2E2A"/>
              </a:solidFill>
              <a:latin typeface="Calibri"/>
            </a:endParaRPr>
          </a:p>
        </p:txBody>
      </p:sp>
      <p:sp>
        <p:nvSpPr>
          <p:cNvPr id="1048599" name="Oval 6"/>
          <p:cNvSpPr/>
          <p:nvPr/>
        </p:nvSpPr>
        <p:spPr>
          <a:xfrm>
            <a:off x="6056000" y="1000000"/>
            <a:ext cx="430000" cy="43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0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8601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Solution Overview</a:t>
            </a:r>
          </a:p>
        </p:txBody>
      </p:sp>
      <p:pic>
        <p:nvPicPr>
          <p:cNvPr id="2097153" name="Picture 3" descr="image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208" y="2497534"/>
            <a:ext cx="4736592" cy="2585732"/>
          </a:xfrm>
          <a:prstGeom prst="rect">
            <a:avLst/>
          </a:prstGeom>
        </p:spPr>
      </p:pic>
      <p:sp>
        <p:nvSpPr>
          <p:cNvPr id="1048602" name="TextBox 4"/>
          <p:cNvSpPr txBox="1"/>
          <p:nvPr/>
        </p:nvSpPr>
        <p:spPr>
          <a:xfrm>
            <a:off x="457200" y="2252429"/>
            <a:ext cx="6261008" cy="30759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3A2E2A"/>
                </a:solidFill>
                <a:latin typeface="Calibri"/>
              </a:rPr>
              <a:t>A software-only virtual vehicle health simulator that mimics an Edge AI system embedded in a real car: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963D31"/>
                </a:solidFill>
                <a:latin typeface="Calibri"/>
              </a:rPr>
              <a:t>•  Input Module: </a:t>
            </a:r>
            <a:r>
              <a:rPr sz="1700" b="1">
                <a:solidFill>
                  <a:srgbClr val="3A2E2A"/>
                </a:solidFill>
                <a:latin typeface="Calibri"/>
              </a:rPr>
              <a:t>RPM, gear, speed, road type, oil temperature, tyre condition, engine temperature.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963D31"/>
                </a:solidFill>
                <a:latin typeface="Calibri"/>
              </a:rPr>
              <a:t>•  Processing Engine: </a:t>
            </a:r>
            <a:r>
              <a:rPr sz="1700" b="1">
                <a:solidFill>
                  <a:srgbClr val="3A2E2A"/>
                </a:solidFill>
                <a:latin typeface="Calibri"/>
              </a:rPr>
              <a:t>Threshold- and pattern-based logic detects anomalies.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963D31"/>
                </a:solidFill>
                <a:latin typeface="Calibri"/>
              </a:rPr>
              <a:t>•  Alerts: </a:t>
            </a:r>
            <a:r>
              <a:rPr sz="1700" b="1">
                <a:solidFill>
                  <a:srgbClr val="3A2E2A"/>
                </a:solidFill>
                <a:latin typeface="Calibri"/>
              </a:rPr>
              <a:t>Real-time, easy-to-understand messages for the driver.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963D31"/>
                </a:solidFill>
                <a:latin typeface="Calibri"/>
              </a:rPr>
              <a:t>•  Status Dashboard: </a:t>
            </a:r>
            <a:r>
              <a:rPr sz="1700" b="1">
                <a:solidFill>
                  <a:srgbClr val="3A2E2A"/>
                </a:solidFill>
                <a:latin typeface="Calibri"/>
              </a:rPr>
              <a:t>Visual, color-coded health format.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3A2E2A"/>
                </a:solidFill>
                <a:latin typeface="Calibri"/>
              </a:rPr>
              <a:t>The novelty is simulating Edge AI decisions without physical sensors.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8604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Challenges Faced</a:t>
            </a:r>
          </a:p>
        </p:txBody>
      </p:sp>
      <p:sp>
        <p:nvSpPr>
          <p:cNvPr id="1048605" name="Rounded Rectangle 3"/>
          <p:cNvSpPr/>
          <p:nvPr/>
        </p:nvSpPr>
        <p:spPr>
          <a:xfrm>
            <a:off x="457200" y="1180000"/>
            <a:ext cx="5528800" cy="2530400"/>
          </a:xfrm>
          <a:prstGeom prst="roundRect">
            <a:avLst>
              <a:gd name="adj" fmla="val 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tIns="90000" rIns="190000" bIns="90000" rtlCol="0" anchor="ctr"/>
          <a:lstStyle/>
          <a:p>
            <a:pPr algn="ctr"/>
            <a:r>
              <a:rPr sz="1800" b="1">
                <a:solidFill>
                  <a:srgbClr val="963D31"/>
                </a:solidFill>
                <a:latin typeface="Calibri"/>
              </a:rPr>
              <a:t>Realistic thresholds:</a:t>
            </a:r>
            <a:r>
              <a:rPr sz="1700" b="1">
                <a:solidFill>
                  <a:srgbClr val="3A2E2A"/>
                </a:solidFill>
                <a:latin typeface="Calibri"/>
              </a:rPr>
              <a:t>  Determining accurate "normal vs. abnormal" ranges without real sensor datasets.</a:t>
            </a:r>
          </a:p>
        </p:txBody>
      </p:sp>
      <p:sp>
        <p:nvSpPr>
          <p:cNvPr id="1048606" name="Oval 4"/>
          <p:cNvSpPr/>
          <p:nvPr/>
        </p:nvSpPr>
        <p:spPr>
          <a:xfrm>
            <a:off x="307200" y="1030000"/>
            <a:ext cx="350000" cy="35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607" name="Rounded Rectangle 5"/>
          <p:cNvSpPr/>
          <p:nvPr/>
        </p:nvSpPr>
        <p:spPr>
          <a:xfrm>
            <a:off x="6206000" y="1180000"/>
            <a:ext cx="5528800" cy="2530400"/>
          </a:xfrm>
          <a:prstGeom prst="roundRect">
            <a:avLst>
              <a:gd name="adj" fmla="val 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tIns="90000" rIns="190000" bIns="90000" rtlCol="0" anchor="ctr"/>
          <a:lstStyle/>
          <a:p>
            <a:pPr algn="ctr"/>
            <a:r>
              <a:rPr sz="1800" b="1">
                <a:solidFill>
                  <a:srgbClr val="963D31"/>
                </a:solidFill>
                <a:latin typeface="Calibri"/>
              </a:rPr>
              <a:t>Real-world unpredictability:</a:t>
            </a:r>
            <a:r>
              <a:rPr sz="1700" b="1">
                <a:solidFill>
                  <a:srgbClr val="3A2E2A"/>
                </a:solidFill>
                <a:latin typeface="Calibri"/>
              </a:rPr>
              <a:t>  Responding to combined conditions, not isolated checks.</a:t>
            </a:r>
          </a:p>
        </p:txBody>
      </p:sp>
      <p:sp>
        <p:nvSpPr>
          <p:cNvPr id="1048608" name="Oval 6"/>
          <p:cNvSpPr/>
          <p:nvPr/>
        </p:nvSpPr>
        <p:spPr>
          <a:xfrm>
            <a:off x="6056000" y="1030000"/>
            <a:ext cx="350000" cy="35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8609" name="Rounded Rectangle 7"/>
          <p:cNvSpPr/>
          <p:nvPr/>
        </p:nvSpPr>
        <p:spPr>
          <a:xfrm>
            <a:off x="457200" y="3870400"/>
            <a:ext cx="5528800" cy="2530400"/>
          </a:xfrm>
          <a:prstGeom prst="roundRect">
            <a:avLst>
              <a:gd name="adj" fmla="val 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tIns="90000" rIns="190000" bIns="90000" rtlCol="0" anchor="ctr"/>
          <a:lstStyle/>
          <a:p>
            <a:pPr algn="ctr"/>
            <a:r>
              <a:rPr sz="1800" b="1">
                <a:solidFill>
                  <a:srgbClr val="963D31"/>
                </a:solidFill>
                <a:latin typeface="Calibri"/>
              </a:rPr>
              <a:t>Simplicity vs. accuracy:</a:t>
            </a:r>
            <a:r>
              <a:rPr sz="1700" b="1">
                <a:solidFill>
                  <a:srgbClr val="3A2E2A"/>
                </a:solidFill>
                <a:latin typeface="Calibri"/>
              </a:rPr>
              <a:t>  Keeping the AI logic lightweight yet meaningful.</a:t>
            </a:r>
          </a:p>
        </p:txBody>
      </p:sp>
      <p:sp>
        <p:nvSpPr>
          <p:cNvPr id="1048610" name="Oval 8"/>
          <p:cNvSpPr/>
          <p:nvPr/>
        </p:nvSpPr>
        <p:spPr>
          <a:xfrm>
            <a:off x="307200" y="3720400"/>
            <a:ext cx="350000" cy="35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8611" name="Rounded Rectangle 9"/>
          <p:cNvSpPr/>
          <p:nvPr/>
        </p:nvSpPr>
        <p:spPr>
          <a:xfrm>
            <a:off x="6206000" y="3870400"/>
            <a:ext cx="5528800" cy="2530400"/>
          </a:xfrm>
          <a:prstGeom prst="roundRect">
            <a:avLst>
              <a:gd name="adj" fmla="val 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tIns="90000" rIns="190000" bIns="90000" rtlCol="0" anchor="ctr"/>
          <a:lstStyle/>
          <a:p>
            <a:pPr algn="ctr"/>
            <a:r>
              <a:rPr sz="1800" b="1">
                <a:solidFill>
                  <a:srgbClr val="963D31"/>
                </a:solidFill>
                <a:latin typeface="Calibri"/>
              </a:rPr>
              <a:t>User experience:</a:t>
            </a:r>
            <a:r>
              <a:rPr sz="1700" b="1">
                <a:solidFill>
                  <a:srgbClr val="3A2E2A"/>
                </a:solidFill>
                <a:latin typeface="Calibri"/>
              </a:rPr>
              <a:t>  Presenting technical alerts clearly for a non-expert driver.</a:t>
            </a:r>
          </a:p>
        </p:txBody>
      </p:sp>
      <p:sp>
        <p:nvSpPr>
          <p:cNvPr id="1048612" name="Oval 10"/>
          <p:cNvSpPr/>
          <p:nvPr/>
        </p:nvSpPr>
        <p:spPr>
          <a:xfrm>
            <a:off x="6056000" y="3720400"/>
            <a:ext cx="350000" cy="35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48614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Technical Implementation</a:t>
            </a:r>
          </a:p>
        </p:txBody>
      </p:sp>
      <p:pic>
        <p:nvPicPr>
          <p:cNvPr id="2097154" name="Picture 3" descr="image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92301"/>
            <a:ext cx="4736592" cy="2596197"/>
          </a:xfrm>
          <a:prstGeom prst="rect">
            <a:avLst/>
          </a:prstGeom>
        </p:spPr>
      </p:pic>
      <p:sp>
        <p:nvSpPr>
          <p:cNvPr id="1048615" name="TextBox 4"/>
          <p:cNvSpPr txBox="1"/>
          <p:nvPr/>
        </p:nvSpPr>
        <p:spPr>
          <a:xfrm>
            <a:off x="5473792" y="2557229"/>
            <a:ext cx="6261008" cy="246634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Type: </a:t>
            </a:r>
            <a:r>
              <a:rPr sz="1600" b="1">
                <a:solidFill>
                  <a:srgbClr val="3A2E2A"/>
                </a:solidFill>
                <a:latin typeface="Calibri"/>
              </a:rPr>
              <a:t>Fully software-based simulation.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Core Logic: </a:t>
            </a:r>
            <a:r>
              <a:rPr sz="1600" b="1">
                <a:solidFill>
                  <a:srgbClr val="3A2E2A"/>
                </a:solidFill>
                <a:latin typeface="Calibri"/>
              </a:rPr>
              <a:t>Rule-based, condition-driven AI decision-making.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Parameters: </a:t>
            </a:r>
            <a:r>
              <a:rPr sz="1600" b="1">
                <a:solidFill>
                  <a:srgbClr val="3A2E2A"/>
                </a:solidFill>
                <a:latin typeface="Calibri"/>
              </a:rPr>
              <a:t>RPM, gear, speed, road type, engine &amp; oil temperature, tyre wear.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Tech Stack: </a:t>
            </a:r>
            <a:r>
              <a:rPr sz="1600" b="1">
                <a:solidFill>
                  <a:srgbClr val="3A2E2A"/>
                </a:solidFill>
                <a:latin typeface="Calibri"/>
              </a:rPr>
              <a:t>Python-based logic with a simple web/app interface.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Alert Engine: </a:t>
            </a:r>
            <a:r>
              <a:rPr sz="1600" b="1">
                <a:solidFill>
                  <a:srgbClr val="3A2E2A"/>
                </a:solidFill>
                <a:latin typeface="Calibri"/>
              </a:rPr>
              <a:t>Multi-condition checks for realistic risk flagging.</a:t>
            </a:r>
          </a:p>
          <a:p>
            <a:pPr>
              <a:spcAft>
                <a:spcPts val="700"/>
              </a:spcAft>
            </a:pPr>
            <a:r>
              <a:rPr sz="1600" b="1">
                <a:solidFill>
                  <a:srgbClr val="963D31"/>
                </a:solidFill>
                <a:latin typeface="Calibri"/>
              </a:rPr>
              <a:t>•  Interface: </a:t>
            </a:r>
            <a:r>
              <a:rPr sz="1600" b="1">
                <a:solidFill>
                  <a:srgbClr val="3A2E2A"/>
                </a:solidFill>
                <a:latin typeface="Calibri"/>
              </a:rPr>
              <a:t>A friendly dashboard showing instant health status and alerts.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1048617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Results and Achievements</a:t>
            </a:r>
          </a:p>
        </p:txBody>
      </p:sp>
      <p:sp>
        <p:nvSpPr>
          <p:cNvPr id="1048618" name="Oval 3"/>
          <p:cNvSpPr/>
          <p:nvPr/>
        </p:nvSpPr>
        <p:spPr>
          <a:xfrm>
            <a:off x="457200" y="156135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619" name="Rounded Rectangle 4"/>
          <p:cNvSpPr/>
          <p:nvPr/>
        </p:nvSpPr>
        <p:spPr>
          <a:xfrm>
            <a:off x="1157200" y="1180000"/>
            <a:ext cx="10577600" cy="122270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Successfully simulated real-world vehicle fault scenarios with accurate, real-time alerts.</a:t>
            </a:r>
          </a:p>
        </p:txBody>
      </p:sp>
      <p:sp>
        <p:nvSpPr>
          <p:cNvPr id="1048620" name="Oval 5"/>
          <p:cNvSpPr/>
          <p:nvPr/>
        </p:nvSpPr>
        <p:spPr>
          <a:xfrm>
            <a:off x="457200" y="289405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8621" name="Rounded Rectangle 6"/>
          <p:cNvSpPr/>
          <p:nvPr/>
        </p:nvSpPr>
        <p:spPr>
          <a:xfrm>
            <a:off x="1157200" y="2512700"/>
            <a:ext cx="10577600" cy="122270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Combined-parameter analysis produced more realistic, useful predictive warnings than single-variable checks.</a:t>
            </a:r>
          </a:p>
        </p:txBody>
      </p:sp>
      <p:sp>
        <p:nvSpPr>
          <p:cNvPr id="1048622" name="Oval 7"/>
          <p:cNvSpPr/>
          <p:nvPr/>
        </p:nvSpPr>
        <p:spPr>
          <a:xfrm>
            <a:off x="457200" y="422675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8623" name="Rounded Rectangle 8"/>
          <p:cNvSpPr/>
          <p:nvPr/>
        </p:nvSpPr>
        <p:spPr>
          <a:xfrm>
            <a:off x="1157200" y="3845400"/>
            <a:ext cx="10577600" cy="122270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Built a lightweight logic engine proving feasibility for Edge AI deployment on low-power hardware.</a:t>
            </a:r>
          </a:p>
        </p:txBody>
      </p:sp>
      <p:sp>
        <p:nvSpPr>
          <p:cNvPr id="1048624" name="Oval 9"/>
          <p:cNvSpPr/>
          <p:nvPr/>
        </p:nvSpPr>
        <p:spPr>
          <a:xfrm>
            <a:off x="457200" y="555945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8625" name="Rounded Rectangle 10"/>
          <p:cNvSpPr/>
          <p:nvPr/>
        </p:nvSpPr>
        <p:spPr>
          <a:xfrm>
            <a:off x="1157200" y="5178100"/>
            <a:ext cx="10577600" cy="122270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Achieved a clear, intuitive alert system understandable instantly by non-technical users.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6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1048627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 dirty="0">
                <a:solidFill>
                  <a:srgbClr val="963D31"/>
                </a:solidFill>
                <a:latin typeface="Arial"/>
              </a:rPr>
              <a:t>Future Enhancements</a:t>
            </a:r>
          </a:p>
        </p:txBody>
      </p:sp>
      <p:sp>
        <p:nvSpPr>
          <p:cNvPr id="1048628" name="Oval 3"/>
          <p:cNvSpPr/>
          <p:nvPr/>
        </p:nvSpPr>
        <p:spPr>
          <a:xfrm>
            <a:off x="457200" y="142808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48629" name="Rounded Rectangle 4"/>
          <p:cNvSpPr/>
          <p:nvPr/>
        </p:nvSpPr>
        <p:spPr>
          <a:xfrm>
            <a:off x="1157200" y="1180000"/>
            <a:ext cx="10577600" cy="95616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 dirty="0">
                <a:solidFill>
                  <a:srgbClr val="3A2E2A"/>
                </a:solidFill>
                <a:latin typeface="Calibri"/>
              </a:rPr>
              <a:t>Integrate real sensor/IoT hardware data for a live, physical Edge AI system.</a:t>
            </a:r>
          </a:p>
        </p:txBody>
      </p:sp>
      <p:sp>
        <p:nvSpPr>
          <p:cNvPr id="1048630" name="Oval 5"/>
          <p:cNvSpPr/>
          <p:nvPr/>
        </p:nvSpPr>
        <p:spPr>
          <a:xfrm>
            <a:off x="457200" y="249424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48631" name="Rounded Rectangle 6"/>
          <p:cNvSpPr/>
          <p:nvPr/>
        </p:nvSpPr>
        <p:spPr>
          <a:xfrm>
            <a:off x="1157200" y="2246160"/>
            <a:ext cx="10577600" cy="95616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Incorporate ML models trained on real vehicle datasets for adaptive predictions.</a:t>
            </a:r>
          </a:p>
        </p:txBody>
      </p:sp>
      <p:sp>
        <p:nvSpPr>
          <p:cNvPr id="1048632" name="Oval 7"/>
          <p:cNvSpPr/>
          <p:nvPr/>
        </p:nvSpPr>
        <p:spPr>
          <a:xfrm>
            <a:off x="457200" y="356040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048633" name="Rounded Rectangle 8"/>
          <p:cNvSpPr/>
          <p:nvPr/>
        </p:nvSpPr>
        <p:spPr>
          <a:xfrm>
            <a:off x="1157200" y="3312320"/>
            <a:ext cx="10577600" cy="95616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Add historical trend analysis for long-term maintenance schedules.</a:t>
            </a:r>
          </a:p>
        </p:txBody>
      </p:sp>
      <p:sp>
        <p:nvSpPr>
          <p:cNvPr id="1048634" name="Oval 9"/>
          <p:cNvSpPr/>
          <p:nvPr/>
        </p:nvSpPr>
        <p:spPr>
          <a:xfrm>
            <a:off x="457200" y="462656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1048635" name="Rounded Rectangle 10"/>
          <p:cNvSpPr/>
          <p:nvPr/>
        </p:nvSpPr>
        <p:spPr>
          <a:xfrm>
            <a:off x="1157200" y="4378480"/>
            <a:ext cx="10577600" cy="95616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Build a mobile app interface for real-time driver notifications.</a:t>
            </a:r>
          </a:p>
        </p:txBody>
      </p:sp>
      <p:sp>
        <p:nvSpPr>
          <p:cNvPr id="1048636" name="Oval 11"/>
          <p:cNvSpPr/>
          <p:nvPr/>
        </p:nvSpPr>
        <p:spPr>
          <a:xfrm>
            <a:off x="457200" y="5692720"/>
            <a:ext cx="460000" cy="4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1048637" name="Rounded Rectangle 12"/>
          <p:cNvSpPr/>
          <p:nvPr/>
        </p:nvSpPr>
        <p:spPr>
          <a:xfrm>
            <a:off x="1157200" y="5444640"/>
            <a:ext cx="10577600" cy="956160"/>
          </a:xfrm>
          <a:prstGeom prst="roundRect">
            <a:avLst>
              <a:gd name="adj" fmla="val 16000"/>
            </a:avLst>
          </a:prstGeom>
          <a:solidFill>
            <a:srgbClr val="F3E1C9"/>
          </a:solidFill>
          <a:ln w="12700">
            <a:solidFill>
              <a:srgbClr val="E7C8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10000" rIns="210000" rtlCol="0" anchor="ctr"/>
          <a:lstStyle/>
          <a:p>
            <a:pPr algn="ctr"/>
            <a:r>
              <a:rPr sz="1800" b="1">
                <a:solidFill>
                  <a:srgbClr val="3A2E2A"/>
                </a:solidFill>
                <a:latin typeface="Calibri"/>
              </a:rPr>
              <a:t>Expand to fleet-level monitoring for commercial/logistics use cases.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Oval 1"/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2500" b="1">
                <a:solidFill>
                  <a:srgbClr val="FFFFFF"/>
                </a:solidFill>
                <a:latin typeface="Arial"/>
              </a:rPr>
              <a:t>8</a:t>
            </a:r>
          </a:p>
        </p:txBody>
      </p:sp>
      <p:sp>
        <p:nvSpPr>
          <p:cNvPr id="1048639" name="TextBox 2"/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300" b="1">
                <a:solidFill>
                  <a:srgbClr val="963D31"/>
                </a:solidFill>
                <a:latin typeface="Arial"/>
              </a:rPr>
              <a:t>Interface Demo</a:t>
            </a:r>
          </a:p>
        </p:txBody>
      </p:sp>
      <p:pic>
        <p:nvPicPr>
          <p:cNvPr id="2" name="Online Media 1" title="EdgeGuard AI | Vehicle Predictive Maintenance Simulation Platform | Demonstration Video">
            <a:hlinkClick r:id="" action="ppaction://media"/>
            <a:extLst>
              <a:ext uri="{FF2B5EF4-FFF2-40B4-BE49-F238E27FC236}">
                <a16:creationId xmlns:a16="http://schemas.microsoft.com/office/drawing/2014/main" id="{9FB69E36-28FE-87BE-43B1-E025506B887E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146738" y="1122224"/>
            <a:ext cx="9898523" cy="55882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5EC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03725A-C720-0194-9FCE-262D70F93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9276797"/>
              </p:ext>
            </p:extLst>
          </p:nvPr>
        </p:nvGraphicFramePr>
        <p:xfrm>
          <a:off x="563880" y="1198879"/>
          <a:ext cx="11064240" cy="54243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7199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969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45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19115">
                <a:tc>
                  <a:txBody>
                    <a:bodyPr/>
                    <a:lstStyle/>
                    <a:p>
                      <a:r>
                        <a:rPr sz="2400" b="1" dirty="0"/>
                        <a:t>Phase</a:t>
                      </a:r>
                    </a:p>
                  </a:txBody>
                  <a:tcPr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/>
                        <a:t>Key Activities</a:t>
                      </a:r>
                    </a:p>
                  </a:txBody>
                  <a:tcPr>
                    <a:solidFill>
                      <a:srgbClr val="B850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 dirty="0"/>
                        <a:t>Deliverables</a:t>
                      </a:r>
                    </a:p>
                  </a:txBody>
                  <a:tcPr>
                    <a:solidFill>
                      <a:srgbClr val="B850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91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 dirty="0"/>
                        <a:t>Phase 1 – Research &amp;</a:t>
                      </a:r>
                    </a:p>
                    <a:p>
                      <a:pPr>
                        <a:defRPr sz="1400"/>
                      </a:pPr>
                      <a:r>
                        <a:rPr sz="1800" b="1" dirty="0"/>
                        <a:t>Planning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 dirty="0"/>
                        <a:t>Analyze EV systems, define AI features, design system architecture and UI/UX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Project architecture, UI wireframes, feature list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581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Phase 2 – Data</a:t>
                      </a:r>
                    </a:p>
                    <a:p>
                      <a:pPr>
                        <a:defRPr sz="1400"/>
                      </a:pPr>
                      <a:r>
                        <a:rPr sz="1800" b="1"/>
                        <a:t>Preparation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Generate realistic synthetic datasets for battery, driving behavior, charging, weather, and vehicle components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Structured datasets ready for AI training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581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Phase 3 – AI Model</a:t>
                      </a:r>
                    </a:p>
                    <a:p>
                      <a:pPr>
                        <a:defRPr sz="1400"/>
                      </a:pPr>
                      <a:r>
                        <a:rPr sz="1800" b="1"/>
                        <a:t>Development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 dirty="0"/>
                        <a:t>Train Battery Health AI, Driver Behavior AI, Predictive Maintenance, and Recommendation Engine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Trained AI models with evaluation metrics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91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Phase 4 – Edge AI</a:t>
                      </a:r>
                    </a:p>
                    <a:p>
                      <a:pPr>
                        <a:defRPr sz="1400"/>
                      </a:pPr>
                      <a:r>
                        <a:rPr sz="1800" b="1"/>
                        <a:t>Integration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Integrate AI models into the local inference engine and optimize for offline execution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Fully functional Edge AI engine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9115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Phase 5 – Infotainment</a:t>
                      </a:r>
                    </a:p>
                    <a:p>
                      <a:pPr>
                        <a:defRPr sz="1400"/>
                      </a:pPr>
                      <a:r>
                        <a:rPr sz="1800" b="1"/>
                        <a:t>Dashboard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Develop Driver View, Insights View, Demo Mode, vehicle visualization, and interactive UI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Complete infotainment dashboard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1912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Phase 6 – Testing &amp;</a:t>
                      </a:r>
                    </a:p>
                    <a:p>
                      <a:pPr>
                        <a:defRPr sz="1400"/>
                      </a:pPr>
                      <a:r>
                        <a:rPr sz="1800" b="1"/>
                        <a:t>Demonstration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/>
                        <a:t>End-to-end testing, simulation, performance optimization, demo video preparation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800" b="1" dirty="0"/>
                        <a:t>Functional PoC ready for presentation</a:t>
                      </a:r>
                    </a:p>
                  </a:txBody>
                  <a:tcPr>
                    <a:solidFill>
                      <a:srgbClr val="F3E1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Oval 1">
            <a:extLst>
              <a:ext uri="{FF2B5EF4-FFF2-40B4-BE49-F238E27FC236}">
                <a16:creationId xmlns:a16="http://schemas.microsoft.com/office/drawing/2014/main" id="{5F27AE37-6B98-E480-C78C-B40CDE69F697}"/>
              </a:ext>
            </a:extLst>
          </p:cNvPr>
          <p:cNvSpPr/>
          <p:nvPr/>
        </p:nvSpPr>
        <p:spPr>
          <a:xfrm>
            <a:off x="457200" y="280000"/>
            <a:ext cx="560000" cy="560000"/>
          </a:xfrm>
          <a:prstGeom prst="ellipse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sz="2500" b="1" dirty="0">
                <a:solidFill>
                  <a:srgbClr val="FFFFFF"/>
                </a:solidFill>
                <a:latin typeface="Arial"/>
              </a:rPr>
              <a:t>9</a:t>
            </a:r>
            <a:endParaRPr sz="2500" b="1" dirty="0">
              <a:solidFill>
                <a:srgbClr val="FFFFFF"/>
              </a:solidFill>
              <a:latin typeface="Arial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61235325-3841-ADEC-A5E3-C5C0AA6557F8}"/>
              </a:ext>
            </a:extLst>
          </p:cNvPr>
          <p:cNvSpPr txBox="1"/>
          <p:nvPr/>
        </p:nvSpPr>
        <p:spPr>
          <a:xfrm>
            <a:off x="1177200" y="255000"/>
            <a:ext cx="10557600" cy="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lang="en-US" sz="3300" b="1" dirty="0">
                <a:solidFill>
                  <a:srgbClr val="963D31"/>
                </a:solidFill>
                <a:latin typeface="Arial"/>
              </a:rPr>
              <a:t>Project Plan</a:t>
            </a:r>
            <a:endParaRPr sz="3300" b="1" dirty="0">
              <a:solidFill>
                <a:srgbClr val="963D31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370680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762</Words>
  <Application>Microsoft Office PowerPoint</Application>
  <PresentationFormat>Widescreen</PresentationFormat>
  <Paragraphs>98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SM-A146B</dc:creator>
  <cp:lastModifiedBy>Suresh Kumar G</cp:lastModifiedBy>
  <cp:revision>4</cp:revision>
  <dcterms:created xsi:type="dcterms:W3CDTF">2013-01-26T22:14:16Z</dcterms:created>
  <dcterms:modified xsi:type="dcterms:W3CDTF">2026-08-06T16:40:31Z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5fb0b48137a647efacad2dbd6bcd9db7_23</vt:lpwstr>
  </property>
</Properties>
</file>